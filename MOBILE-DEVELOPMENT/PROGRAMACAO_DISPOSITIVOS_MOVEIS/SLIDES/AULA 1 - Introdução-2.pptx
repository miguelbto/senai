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10287000" cx="18288000"/>
  <p:notesSz cx="6858000" cy="9144000"/>
  <p:embeddedFontLst>
    <p:embeddedFont>
      <p:font typeface="Poppi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gcWzFkJs8+fSSpHAHYKy/9b12i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oppins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oppins-italic.fntdata"/><Relationship Id="rId16" Type="http://schemas.openxmlformats.org/officeDocument/2006/relationships/slide" Target="slides/slide11.xml"/><Relationship Id="rId38" Type="http://schemas.openxmlformats.org/officeDocument/2006/relationships/font" Target="fonts/Poppi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Em outras palavras, requisitos são as “regras do jogo” que definem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 que o sistema deve ser e fazer. Eles são a base para todo o processo 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Comunicação eficaz: permite que todos os envolvidos no projeto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(usuários, desenvolvedores, gerentes etc.) tenham um entendimento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comum do que o sistema deve fazer;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• Planejamento preciso: facilita a estimativa de tempo, recursos 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custos necessários para o desenvolvimento do sistema;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• Redução de retrabalho: evita que funcionalidades sejam desenvolvidas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 forma inadequada ou que não atendam às necessidades dos usuários;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• Garantia de qualidade: ajuda a garantir que o sistema final atenda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aos critérios de aceitação e satisfaça as expectativas dos usuários.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desenvolvimento, guiando as decisões de design, implementação e testes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fa6576620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bfa6576620_0_1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94324d2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494324d29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fa6576620_0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bfa6576620_0_9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a6576620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1983 – O primeiro telefone móvel chega ao mercado: Em 1983,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 Motorola revolucionou a comunicação ao lançar o DynaTAC 8000x, 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Dispositivos móveis | 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aparelho robusto, com 33 cm de altura e pesando 800 gramas. Sua autono-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mia de bateria era de apenas uma hora de conversa, e seu custo de quase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4 mil dólares o tornava inacessível para muitos. Mesmo assim, ele marcou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 início de uma nova era.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1989 – A revolução do flip: O MicroTAC 9800X, lançado em 1989,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trouxe um design inovador com sua tampa flip, tornando os celulares mais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compactos e práticos. Essa inovação abriu caminho para os celulares de bolso.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1994 – Telas sensíveis ao toque: O IBM Simon foi pioneiro ao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introduzir telas sensíveis ao toque e funcionalidades como calendário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bloco de notas. Apesar da visão futurista, seu alto custo e baixa aceitação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limitaram sua popularidade.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1996 – Primeiros passos para a internet móvel: O Nokia 9000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Communicator foi o primeiro celular a oferecer acesso à internet, ainda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que de forma limitada e cara. Seu design lembrava um pequeno notebook,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antecipando funcionalidades dos smartphones.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1998 – Telas coloridas chegam aos celulares: Com o lançamento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do Siemens S10, em 1998, as telas coloridas fizeram sua estreia. A Nokia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rapidamente superou essa inovação com o modelo 9210, introduzindo telas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 alta qualidade.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2001 – A era das câmeras: O Sharp J-SH04 trouxe a câmera inte-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grada aos celulares, permitindo tirar fotos e compartilhá-las instantanea-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mente. Foi o primeiro passo para transformar os celulares em ferramentas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multimídia.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bfa6576620_0_9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fa6576620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bfa6576620_0_10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fa6576620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bfa6576620_0_9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fa6576620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Revolucionou a indústria de tecnologia com produtos icônicos como o Macintosh, iPod, iPhone e iPad, popularizando computadores pessoais e dispositivos móveis</a:t>
            </a:r>
            <a:endParaRPr sz="100"/>
          </a:p>
        </p:txBody>
      </p:sp>
      <p:sp>
        <p:nvSpPr>
          <p:cNvPr id="188" name="Google Shape;188;g3bfa6576620_0_10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fa6576620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2007 – O iPhone e a revolução dos smartphones: O lançamento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do iPhone 2G redefiniu o mercado de celulares. Sua interface totalmente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touchscreen, sem teclados físicos, e o sistema iOS trouxeram os aplicativos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ao centro da experiência do usuário, criando o ecossistema que hoje domina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mercado.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 | Programação para dispositivos móveis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2008 – O Android surge como alternativa: O HTC Dream introduziu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Android, um sistema operacional flexível e acessível a diversos fabricantes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celular. Essa abertura acelerou a adoção de smartphones em todo o mundo.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2010 – Tablets e o avanço dos smartphones: Com o iPad e melho-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rias significativas nos smartphones, como câmeras aprimoradas e processa-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dores mais rápidos, o mercado de dispositivos móveis se consolidou como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indispensável para o dia a dia.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2013 – Assistentes virtuais redefinem a interação: A Siri, seguida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por Google Assistant e Alexa, transformou os smartphones em assistentes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pessoais, simplificando o acesso a informações e automações.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2016 – Pagamentos móveis se popularizam: Serviços como Apple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Pay e Google Pay tornaram os smartphones também carteiras digitais,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trazendo mais conveniência e segurança às transações.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2019 – 5G e smartphones dobráveis: A chegada do 5G trouxe conec-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tividade ultrarrápida, enquanto os smartphones dobráveis, como o Galaxy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Fold, abriram novas possibilidades de design.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2020 e além – IA e integração total: A inteligência artificial con-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solidou os smartphones como ferramentas essenciais para produtividade,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saúde e entretenimento. Recursos como câmeras avançadas com IA, reco-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nhecimento facial e assistentes de voz redefiniram o que esperamos desses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dispositivos.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2025 – Um futuro promissor: Hoje, os smartphones são assistentes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pessoais completos, essenciais para nossa vida. A evolução não para, e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futuro promete ainda mais inovações que continuarão a transformar nossa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relação com a tecnologia.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O Brasil está entre os cinco países com maior número de usuários de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smartphones, e, com a crescente oferta de aplicativos para diversas neces-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sidades do dia a dia, o mercado mobile está em constante expansão.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bfa6576620_0_1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fa6576620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bfa6576620_0_1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1ef68f60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c1ef68f60b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1ef68f60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c1ef68f60b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1ef68f60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c1ef68f60b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94324d29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494324d29f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fa6576620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bfa6576620_0_1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fa6576620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g3bfa6576620_0_1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30c1561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930c1561b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30d7719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930d77199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30d77199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930d771992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c1ef68f6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g3c1ef68f60b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1ef68f6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g3c1ef68f60b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30c1561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g3930c1561b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1ef68f60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g3c1ef68f60b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1ef68f60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g3c1ef68f60b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c1ef68f60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g3c1ef68f60b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1ef68f60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g3c1ef68f60b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1ef68f60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g3c1ef68f60b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1ef68f60b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3c1ef68f60b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1ef68f60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3c1ef68f60b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0" name="Google Shape;490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Relationship Id="rId4" Type="http://schemas.openxmlformats.org/officeDocument/2006/relationships/image" Target="../media/image7.png"/><Relationship Id="rId5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13599" y="4407931"/>
            <a:ext cx="10234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Programação p/ Dispositivos Móveis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Isadora Dias Afonso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161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1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Programação para Dispositivos Móveis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542153"/>
            <a:ext cx="14443800" cy="55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Refere-se à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criação de software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especificamente projetado para rodar em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smartphones, tablets e wearables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(como relógios inteligentes).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Diferente do desenvolvimento para computadores (desktop) ou web, a programação mobile exige que o desenvolvedor lide com restrições e recursos únicos do hardware portátil.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O que é?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fa6576620_0_11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bfa6576620_0_1118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bfa6576620_0_1118"/>
          <p:cNvSpPr txBox="1"/>
          <p:nvPr/>
        </p:nvSpPr>
        <p:spPr>
          <a:xfrm>
            <a:off x="4213599" y="4400788"/>
            <a:ext cx="102348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94324d29f_0_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494324d29f_0_2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g3494324d29f_0_2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7" name="Google Shape;117;g3494324d29f_0_2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18" name="Google Shape;118;g3494324d29f_0_2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g3494324d29f_0_2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g3494324d29f_0_20"/>
          <p:cNvSpPr txBox="1"/>
          <p:nvPr/>
        </p:nvSpPr>
        <p:spPr>
          <a:xfrm>
            <a:off x="2043302" y="1253344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494324d29f_0_20"/>
          <p:cNvSpPr txBox="1"/>
          <p:nvPr/>
        </p:nvSpPr>
        <p:spPr>
          <a:xfrm>
            <a:off x="1685100" y="3533575"/>
            <a:ext cx="14999100" cy="4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Embora os dispositivos móveis sejam itens populares atualmente, é importante conhecer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quando surgiram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sua evolução até os dias atuais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smartphone certamente é o dispositivo móvel mais conhecido e utilizado, porém, laptops, tablets e leitores eletrônicos (e-readers) também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são dispositivos móveis.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g3494324d29f_0_2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494324d29f_0_2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História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fa6576620_0_97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bfa6576620_0_97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g3bfa6576620_0_97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" name="Google Shape;131;g3bfa6576620_0_979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32" name="Google Shape;132;g3bfa6576620_0_97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bfa6576620_0_97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g3bfa6576620_0_979"/>
          <p:cNvSpPr txBox="1"/>
          <p:nvPr/>
        </p:nvSpPr>
        <p:spPr>
          <a:xfrm>
            <a:off x="2043302" y="1253344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Linha do Tempo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fa6576620_0_97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g3bfa6576620_0_9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6575" y="3248225"/>
            <a:ext cx="12474850" cy="69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bfa6576620_0_979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História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a6576620_0_96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a6576620_0_96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g3bfa6576620_0_96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5" name="Google Shape;145;g3bfa6576620_0_963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146" name="Google Shape;146;g3bfa6576620_0_96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g3bfa6576620_0_96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g3bfa6576620_0_963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Linha do Tempo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bfa6576620_0_963"/>
          <p:cNvSpPr txBox="1"/>
          <p:nvPr/>
        </p:nvSpPr>
        <p:spPr>
          <a:xfrm>
            <a:off x="1380750" y="3429000"/>
            <a:ext cx="7871400" cy="8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1983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primeiro telefone móvel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DynaTAC 8000x: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Desenvolvido pela Motorola;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33cm de altura e com peso de 800 gramas;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Autonomia de bateria de uma hora;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4 mil dólares.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1989</a:t>
            </a: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Revolução do flip com MicroTAC 9800x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Design Inovador;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Abriu caminho para os celulares de bolso.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1994 -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primeiro smartphone: IBM Simon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Telas sensíveis ao toque;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Calendário, bloco de notas;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Apesar da visão futurista, seu alto custo e baixa aceitação limitou sua popularidade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g3bfa6576620_0_96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bfa6576620_0_963"/>
          <p:cNvCxnSpPr/>
          <p:nvPr/>
        </p:nvCxnSpPr>
        <p:spPr>
          <a:xfrm rot="10800000">
            <a:off x="9526065" y="3533588"/>
            <a:ext cx="6600" cy="6126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g3bfa6576620_0_963"/>
          <p:cNvSpPr txBox="1"/>
          <p:nvPr/>
        </p:nvSpPr>
        <p:spPr>
          <a:xfrm>
            <a:off x="9806600" y="3429000"/>
            <a:ext cx="74433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1996 -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Nokia 9000 Communicator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Primeiro celular a oferecer acesso à internet.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Seu design lembrava um notebook.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2001</a:t>
            </a:r>
            <a:r>
              <a:rPr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Sharp J-SH04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Trouxe a câmera integrada aos celulares;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Foi o primeiro passo para transformar os celulares em ferramentas de multimídia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g3bfa6576620_0_9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06600" y="7003175"/>
            <a:ext cx="2189225" cy="3283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bfa6576620_0_9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649975" y="6778450"/>
            <a:ext cx="5599926" cy="373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bfa6576620_0_963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História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fa6576620_0_103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bfa6576620_0_103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bfa6576620_0_103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3" name="Google Shape;163;g3bfa6576620_0_1035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164" name="Google Shape;164;g3bfa6576620_0_103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g3bfa6576620_0_103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bfa6576620_0_1035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Grande Salto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bfa6576620_0_103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bfa6576620_0_1035"/>
          <p:cNvPicPr preferRelativeResize="0"/>
          <p:nvPr/>
        </p:nvPicPr>
        <p:blipFill rotWithShape="1">
          <a:blip r:embed="rId6">
            <a:alphaModFix/>
          </a:blip>
          <a:srcRect b="6182" l="0" r="0" t="0"/>
          <a:stretch/>
        </p:blipFill>
        <p:spPr>
          <a:xfrm>
            <a:off x="1264275" y="4082238"/>
            <a:ext cx="5186700" cy="55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bfa6576620_0_1035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História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fa6576620_0_99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bfa6576620_0_99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g3bfa6576620_0_99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7" name="Google Shape;177;g3bfa6576620_0_996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178" name="Google Shape;178;g3bfa6576620_0_99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g3bfa6576620_0_99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g3bfa6576620_0_996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Grande Salto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bfa6576620_0_99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bfa6576620_0_996"/>
          <p:cNvPicPr preferRelativeResize="0"/>
          <p:nvPr/>
        </p:nvPicPr>
        <p:blipFill rotWithShape="1">
          <a:blip r:embed="rId6">
            <a:alphaModFix/>
          </a:blip>
          <a:srcRect b="6182" l="0" r="0" t="0"/>
          <a:stretch/>
        </p:blipFill>
        <p:spPr>
          <a:xfrm>
            <a:off x="1264275" y="4082238"/>
            <a:ext cx="5186700" cy="559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bfa6576620_0_9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74125" y="4798075"/>
            <a:ext cx="4167176" cy="416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bfa6576620_0_996"/>
          <p:cNvPicPr preferRelativeResize="0"/>
          <p:nvPr/>
        </p:nvPicPr>
        <p:blipFill rotWithShape="1">
          <a:blip r:embed="rId8">
            <a:alphaModFix/>
          </a:blip>
          <a:srcRect b="7612" l="0" r="0" t="0"/>
          <a:stretch/>
        </p:blipFill>
        <p:spPr>
          <a:xfrm>
            <a:off x="11430000" y="4082250"/>
            <a:ext cx="5476875" cy="55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bfa6576620_0_996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História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fa6576620_0_105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g3bfa6576620_0_105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2" name="Google Shape;192;g3bfa6576620_0_1050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193" name="Google Shape;193;g3bfa6576620_0_105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g3bfa6576620_0_105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g3bfa6576620_0_1050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Steve Jobs </a:t>
            </a:r>
            <a:r>
              <a:rPr b="1" lang="en-US" sz="4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(1955 - 2011)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bfa6576620_0_105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bfa6576620_0_1050"/>
          <p:cNvSpPr txBox="1"/>
          <p:nvPr/>
        </p:nvSpPr>
        <p:spPr>
          <a:xfrm>
            <a:off x="1685100" y="3533575"/>
            <a:ext cx="14999100" cy="51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Foi um empresário, inventor e visionário norte-americano, cofundador da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Apple Inc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..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Steve Jo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 foi o catalisador da era moderna dos smartphones.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 Com o lançamento do iPhone em 2007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, ele fundiu um telefone, um iPod e um comunicador de internet em um único dispositivo revolucionário. 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Sua insistência em uma interface intuitiva baseada em toque (multi-touch)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enterrou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os teclados físicos e definiu o formato padrão que todo smartphone utiliza até hoje.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g3bfa6576620_0_105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História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fa6576620_0_110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bfa6576620_0_110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g3bfa6576620_0_110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6" name="Google Shape;206;g3bfa6576620_0_1100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207" name="Google Shape;207;g3bfa6576620_0_110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g3bfa6576620_0_110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g3bfa6576620_0_1100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Linha do Tempo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bfa6576620_0_1100"/>
          <p:cNvSpPr txBox="1"/>
          <p:nvPr/>
        </p:nvSpPr>
        <p:spPr>
          <a:xfrm>
            <a:off x="1380750" y="3429000"/>
            <a:ext cx="7871400" cy="8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2007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Lançamento do iPhone 2G: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Redefinição e novo padrão de mercado;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Sistema com diversos aplicativos;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Ecossistema que domina o mercado.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2008 </a:t>
            </a: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HTC Dream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Surge o Android como alternativa;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Sistema operacional flexível e acessível a diversos fabricantes de celular;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Aceleração na adoção de smartphones.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2010 </a:t>
            </a: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Tablets e avanço na tecnologia dos dispositivos móveis.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g3bfa6576620_0_110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g3bfa6576620_0_1100"/>
          <p:cNvCxnSpPr/>
          <p:nvPr/>
        </p:nvCxnSpPr>
        <p:spPr>
          <a:xfrm rot="10800000">
            <a:off x="9073628" y="3533588"/>
            <a:ext cx="6600" cy="6126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g3bfa6576620_0_1100"/>
          <p:cNvSpPr txBox="1"/>
          <p:nvPr/>
        </p:nvSpPr>
        <p:spPr>
          <a:xfrm>
            <a:off x="9806600" y="3429000"/>
            <a:ext cx="7443300" cy="8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2013 </a:t>
            </a: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Assistentes virtuais: Google Assistant, Siri.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2016</a:t>
            </a:r>
            <a:r>
              <a:rPr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Pagamentos móveis: Apple Pay, Google Pay.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2019</a:t>
            </a:r>
            <a:r>
              <a:rPr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- 5G e smartphones dobráveis.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IA e integração total aos smartphones.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  <a:r>
              <a:rPr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Assistentes pessoais completos e essenciais para nossa vida.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g3bfa6576620_0_110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História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fa6576620_0_11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bfa6576620_0_1126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bfa6576620_0_1126"/>
          <p:cNvSpPr txBox="1"/>
          <p:nvPr/>
        </p:nvSpPr>
        <p:spPr>
          <a:xfrm>
            <a:off x="4026599" y="3735288"/>
            <a:ext cx="10234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Tipos de 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1ef68f60b_0_1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c1ef68f60b_0_1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g3c1ef68f60b_0_11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9" name="Google Shape;229;g3c1ef68f60b_0_11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0" name="Google Shape;230;g3c1ef68f60b_0_1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c1ef68f60b_0_11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g3c1ef68f60b_0_115"/>
          <p:cNvSpPr txBox="1"/>
          <p:nvPr/>
        </p:nvSpPr>
        <p:spPr>
          <a:xfrm>
            <a:off x="2019488" y="1260488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Frameworks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3" name="Google Shape;233;g3c1ef68f60b_0_115"/>
          <p:cNvSpPr txBox="1"/>
          <p:nvPr/>
        </p:nvSpPr>
        <p:spPr>
          <a:xfrm>
            <a:off x="1685075" y="35421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Framework é um conjunto estruturado de ferramentas, bibliotecas, padrões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 componentes que oferece uma base para o desenvolvimento de aplicações.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Ele serve como um “esqueleto” ou infraestrutura para os desenvolvedores usarem e estender para construir software de forma mais rápida e consistente.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g3c1ef68f60b_0_1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c1ef68f60b_0_115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c1ef68f60b_0_1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7176" y="5958475"/>
            <a:ext cx="10293650" cy="38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1ef68f60b_0_1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c1ef68f60b_0_13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g3c1ef68f60b_0_13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4" name="Google Shape;244;g3c1ef68f60b_0_13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45" name="Google Shape;245;g3c1ef68f60b_0_13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g3c1ef68f60b_0_13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g3c1ef68f60b_0_132"/>
          <p:cNvSpPr txBox="1"/>
          <p:nvPr/>
        </p:nvSpPr>
        <p:spPr>
          <a:xfrm>
            <a:off x="2019488" y="1260488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Frameworks x Bibliotecas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g3c1ef68f60b_0_132"/>
          <p:cNvSpPr txBox="1"/>
          <p:nvPr/>
        </p:nvSpPr>
        <p:spPr>
          <a:xfrm>
            <a:off x="1685075" y="3542153"/>
            <a:ext cx="144438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entendermos melhor o conceito de framework, vale ressaltar as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diferenças entre eles e as bibliotecas.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Biblioteca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é o conjunto de funções acionadas conforme a necessidade, controlando o fluxo do programa; por exemplo, NumPy em Python.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O framework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, por sua vez, define o fluxo do programa, controlando a execução de certas partes e chamando o código do desenvolvedor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; por exemplo, Django, que já oferece estrutura para o desenvolvimento web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g3c1ef68f60b_0_13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c1ef68f60b_0_13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1ef68f60b_0_14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c1ef68f60b_0_14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g3c1ef68f60b_0_14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8" name="Google Shape;258;g3c1ef68f60b_0_14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59" name="Google Shape;259;g3c1ef68f60b_0_14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g3c1ef68f60b_0_14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g3c1ef68f60b_0_147"/>
          <p:cNvSpPr txBox="1"/>
          <p:nvPr/>
        </p:nvSpPr>
        <p:spPr>
          <a:xfrm>
            <a:off x="2019488" y="1260488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Vantagens e Desvantagens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g3c1ef68f60b_0_14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c1ef68f60b_0_147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Frameworks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c1ef68f60b_0_1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6150" y="3827926"/>
            <a:ext cx="14375701" cy="49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94324d29f_0_1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494324d29f_0_15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g3494324d29f_0_15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2" name="Google Shape;272;g3494324d29f_0_15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73" name="Google Shape;273;g3494324d29f_0_15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g3494324d29f_0_15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g3494324d29f_0_158"/>
          <p:cNvSpPr txBox="1"/>
          <p:nvPr/>
        </p:nvSpPr>
        <p:spPr>
          <a:xfrm>
            <a:off x="2019488" y="1260488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Tipos de Desenvolvimento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g3494324d29f_0_158"/>
          <p:cNvSpPr txBox="1"/>
          <p:nvPr/>
        </p:nvSpPr>
        <p:spPr>
          <a:xfrm>
            <a:off x="1685075" y="3542153"/>
            <a:ext cx="14443800" cy="2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Quais as principais diferenças entre os tipos desenvolvimento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NATIVO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HÍBRIDO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?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Quais as vantagens e desvantagens de cada um?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Pesquise exemplos de ferramentas e linguagens que se encaixam no desenvolvimento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nativo e híbrido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g3494324d29f_0_15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494324d29f_0_158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Pesquisa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494324d29f_0_1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55250" y="7253300"/>
            <a:ext cx="2734799" cy="273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fa6576620_0_11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bfa6576620_0_113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g3bfa6576620_0_113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7" name="Google Shape;287;g3bfa6576620_0_113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88" name="Google Shape;288;g3bfa6576620_0_113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g3bfa6576620_0_113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bfa6576620_0_1133"/>
          <p:cNvSpPr txBox="1"/>
          <p:nvPr/>
        </p:nvSpPr>
        <p:spPr>
          <a:xfrm>
            <a:off x="2019488" y="1260488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Desenvolvimento Nativo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g3bfa6576620_0_1133"/>
          <p:cNvSpPr txBox="1"/>
          <p:nvPr/>
        </p:nvSpPr>
        <p:spPr>
          <a:xfrm>
            <a:off x="1685075" y="3542153"/>
            <a:ext cx="14443800" cy="50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O desenvolvimento nativo refere-se à criação de aplicativos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exclusivos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um sistema operacional específico, seja iOS ou Android.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Uma das principais vantagens do desenvolvimento nativo é a performance aprimorada e a experiência mais fluida para o usuário, já que o aplicativo é otimizado para uma plataforma específica.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Desvantagens: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Desafios em custo e desenvolvimento;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Retrabalho para lançar em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múltiplas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plataformas.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g3bfa6576620_0_113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bfa6576620_0_1133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Tipos de 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fa6576620_0_115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bfa6576620_0_115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g3bfa6576620_0_115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1" name="Google Shape;301;g3bfa6576620_0_115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02" name="Google Shape;302;g3bfa6576620_0_115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g3bfa6576620_0_115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g3bfa6576620_0_1156"/>
          <p:cNvSpPr txBox="1"/>
          <p:nvPr/>
        </p:nvSpPr>
        <p:spPr>
          <a:xfrm>
            <a:off x="2019488" y="1260488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Desenvolvimento Híbrido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g3bfa6576620_0_1156"/>
          <p:cNvSpPr txBox="1"/>
          <p:nvPr/>
        </p:nvSpPr>
        <p:spPr>
          <a:xfrm>
            <a:off x="1685075" y="3542153"/>
            <a:ext cx="14443800" cy="55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No modelo de desenvolvimento híbrido, o aplicativo é desenvolvido para ser executado tanto no sistema operacional Android quanto no iOS.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Isso proporciona maior otimização no processo de desenvolvimento, mas também apresenta alguns desafios.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Desvantagens: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Interações mais complexas ou específicas de cada sistema operacional;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Pequena perda na performance do app.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g3bfa6576620_0_115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bfa6576620_0_1156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Tipos de 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30c1561b6_0_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930c1561b6_0_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g3930c1561b6_0_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5" name="Google Shape;315;g3930c1561b6_0_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16" name="Google Shape;316;g3930c1561b6_0_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g3930c1561b6_0_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g3930c1561b6_0_6"/>
          <p:cNvSpPr txBox="1"/>
          <p:nvPr/>
        </p:nvSpPr>
        <p:spPr>
          <a:xfrm>
            <a:off x="2019488" y="1260488"/>
            <a:ext cx="123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funciona o desenvolvimento</a:t>
            </a:r>
            <a:endParaRPr b="1" i="0" sz="35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g3930c1561b6_0_6"/>
          <p:cNvSpPr txBox="1"/>
          <p:nvPr/>
        </p:nvSpPr>
        <p:spPr>
          <a:xfrm>
            <a:off x="1685075" y="35421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Quando os aplicativos mobile surgiram, o desenvolvimento era realizado utilizando recursos nativos do sistema operacional. Os aplicativos nativos forneciam acesso total aos recursos de hardware como GPS, câmera e sensores.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Porém não existia uma grande gama de ferramentas, pois as regras eram estabelecidas pelos sistemas operacionais.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g3930c1561b6_0_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930c1561b6_0_6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30d771992_0_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930d771992_0_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g3930d771992_0_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9" name="Google Shape;329;g3930d771992_0_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30" name="Google Shape;330;g3930d771992_0_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g3930d771992_0_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g3930d771992_0_1"/>
          <p:cNvSpPr txBox="1"/>
          <p:nvPr/>
        </p:nvSpPr>
        <p:spPr>
          <a:xfrm>
            <a:off x="2019488" y="1260488"/>
            <a:ext cx="12369900" cy="1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funciona o desenvolvimento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(Nativo)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g3930d771992_0_1"/>
          <p:cNvSpPr txBox="1"/>
          <p:nvPr/>
        </p:nvSpPr>
        <p:spPr>
          <a:xfrm>
            <a:off x="1685075" y="3542153"/>
            <a:ext cx="14443800" cy="3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2007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a Apple introduziu o iPhone com o sistema iOS que permitia criar aplicativos usando o iOS SDK. Linguagens como Objective C (posteriormente substituída por Swift) tornaram-se padrão para aplicativos iOS.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2008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o sistema Android foi lançado com o kit de desenvolvimento de software (Software Kit Development – SDK) que utilizava a linguagem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Java, posteriormente substituída pela linguagem Kotlin.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g3930d771992_0_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930d771992_0_1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g3930d771992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0238" y="7358418"/>
            <a:ext cx="2415075" cy="241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930d771992_0_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82687" y="7358418"/>
            <a:ext cx="2415075" cy="24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30d771992_0_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930d771992_0_1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g3930d771992_0_1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5" name="Google Shape;345;g3930d771992_0_1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46" name="Google Shape;346;g3930d771992_0_1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g3930d771992_0_1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g3930d771992_0_17"/>
          <p:cNvSpPr txBox="1"/>
          <p:nvPr/>
        </p:nvSpPr>
        <p:spPr>
          <a:xfrm>
            <a:off x="2019488" y="1260488"/>
            <a:ext cx="12369900" cy="1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funciona o desenvolvimento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(H</a:t>
            </a: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íbrido</a:t>
            </a: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g3930d771992_0_17"/>
          <p:cNvSpPr txBox="1"/>
          <p:nvPr/>
        </p:nvSpPr>
        <p:spPr>
          <a:xfrm>
            <a:off x="1685075" y="3542153"/>
            <a:ext cx="14443800" cy="6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Com o modo nativo, surgiu o problema onde, caso eu desejasse que o app fosse multiplataforma eu teria que refazer ele em duas linguagens diferentes.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2009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surgiu o primeiro framework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híbrido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, o PhoneGap (que utilizava a tecnologia Adobe Cordova).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Ele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criar aplicativos móveis utilizando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tecnologias web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como HTML, CSS e JavaScript, e então a arquitetura da ferramenta se comunicava com a parte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nativa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 com o desenvolvimento híbrido é possível criar códigos multiplataformas para ambos sistemas operacionais.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g3930d771992_0_1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930d771992_0_17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1ef68f60b_0_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c1ef68f60b_0_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g3c1ef68f60b_0_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9" name="Google Shape;359;g3c1ef68f60b_0_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60" name="Google Shape;360;g3c1ef68f60b_0_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g3c1ef68f60b_0_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g3c1ef68f60b_0_1"/>
          <p:cNvSpPr txBox="1"/>
          <p:nvPr/>
        </p:nvSpPr>
        <p:spPr>
          <a:xfrm>
            <a:off x="2115913" y="1260475"/>
            <a:ext cx="123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Estrutura PhoneGap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g3c1ef68f60b_0_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c1ef68f60b_0_1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g3c1ef68f60b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0550" y="1099325"/>
            <a:ext cx="1153625" cy="115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3c1ef68f60b_0_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9050" y="3220226"/>
            <a:ext cx="12369900" cy="6752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1ef68f60b_0_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c1ef68f60b_0_1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g3c1ef68f60b_0_1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4" name="Google Shape;374;g3c1ef68f60b_0_1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75" name="Google Shape;375;g3c1ef68f60b_0_1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g3c1ef68f60b_0_1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g3c1ef68f60b_0_16"/>
          <p:cNvSpPr txBox="1"/>
          <p:nvPr/>
        </p:nvSpPr>
        <p:spPr>
          <a:xfrm>
            <a:off x="2019488" y="1260488"/>
            <a:ext cx="123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Evolução dos frameworks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g3c1ef68f60b_0_16"/>
          <p:cNvSpPr txBox="1"/>
          <p:nvPr/>
        </p:nvSpPr>
        <p:spPr>
          <a:xfrm>
            <a:off x="1685075" y="3236758"/>
            <a:ext cx="14443800" cy="8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Após o PhoneGap, novos frameworks foram surgindo com diversas melhorias que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otimizam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ainda mais o tempo de desenvolvimento.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Em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2015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surge o Ionic, baseado em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AngularJS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framework robusto muito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utilizado no mercado;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Em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2016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surge o React Native, ferramenta criada pelo Facebook que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melhorou muito o desempenho dos apps híbridos por conta da sua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renderização nativa de componentes.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3716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Em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2018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, o Google lançou o Flutter, um framework para desenvolvimento de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3716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aplicativos multiplataforma que utiliza a linguagem Dart que também tem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3716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um desempenho muito próximo ao nativo.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" name="Google Shape;379;g3c1ef68f60b_0_1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c1ef68f60b_0_16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g3c1ef68f60b_0_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1601" y="6068437"/>
            <a:ext cx="1056300" cy="10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c1ef68f60b_0_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81600" y="8018450"/>
            <a:ext cx="1056300" cy="10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c1ef68f60b_0_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58450" y="4603813"/>
            <a:ext cx="902600" cy="9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30c1561b6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930c1561b6_0_0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930c1561b6_0_0"/>
          <p:cNvSpPr txBox="1"/>
          <p:nvPr/>
        </p:nvSpPr>
        <p:spPr>
          <a:xfrm>
            <a:off x="4026599" y="3735288"/>
            <a:ext cx="102348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c1ef68f60b_0_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c1ef68f60b_0_3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g3c1ef68f60b_0_3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8" name="Google Shape;398;g3c1ef68f60b_0_3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99" name="Google Shape;399;g3c1ef68f60b_0_3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g3c1ef68f60b_0_3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" name="Google Shape;401;g3c1ef68f60b_0_36"/>
          <p:cNvSpPr txBox="1"/>
          <p:nvPr/>
        </p:nvSpPr>
        <p:spPr>
          <a:xfrm>
            <a:off x="2019488" y="1260488"/>
            <a:ext cx="12369900" cy="1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Recursos para o desenvolvimento nativo (Android)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g3c1ef68f60b_0_36"/>
          <p:cNvSpPr txBox="1"/>
          <p:nvPr/>
        </p:nvSpPr>
        <p:spPr>
          <a:xfrm>
            <a:off x="1685075" y="3542153"/>
            <a:ext cx="144438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desenvolver um app para o sistema operacional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Android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Linguagens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Java e Kotlin;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Java: uma das linguagens mais populares e robustas, utilizada desde o início do Android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Kotlin: linguagem moderna, oficializada pelo Google em 2017, projetada para ser mais expressiva, segura e produtiva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IDE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Android Studio – Ferramenta oficial da Google para desenvolvimento Android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💡 IDE: Ambiente de desenvolvimento Integrado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3" name="Google Shape;403;g3c1ef68f60b_0_3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c1ef68f60b_0_36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1ef68f60b_0_5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c1ef68f60b_0_5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g3c1ef68f60b_0_5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2" name="Google Shape;412;g3c1ef68f60b_0_5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13" name="Google Shape;413;g3c1ef68f60b_0_5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g3c1ef68f60b_0_5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5" name="Google Shape;415;g3c1ef68f60b_0_51"/>
          <p:cNvSpPr txBox="1"/>
          <p:nvPr/>
        </p:nvSpPr>
        <p:spPr>
          <a:xfrm>
            <a:off x="2019488" y="1260488"/>
            <a:ext cx="12369900" cy="1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Recursos para o desenvolvimento nativo (iOS)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6" name="Google Shape;416;g3c1ef68f60b_0_51"/>
          <p:cNvSpPr txBox="1"/>
          <p:nvPr/>
        </p:nvSpPr>
        <p:spPr>
          <a:xfrm>
            <a:off x="1685075" y="3542153"/>
            <a:ext cx="14443800" cy="55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desenvolver um app para o sistema operacional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iOS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Linguagens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Objective C e Swift;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Objective C: uma linguagem mais antiga e amplamente utilizada antes do lançamento do Swift;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Swift: lançada pela Apple em 2014, é moderna, segura, rápida e com sintaxe mais limpa.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IDE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XCode – Ferramenta oficial da Apple, dísponivel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exclusivamente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macOS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g3c1ef68f60b_0_5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c1ef68f60b_0_51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1ef68f60b_0_6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c1ef68f60b_0_6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g3c1ef68f60b_0_6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6" name="Google Shape;426;g3c1ef68f60b_0_6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27" name="Google Shape;427;g3c1ef68f60b_0_6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g3c1ef68f60b_0_6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g3c1ef68f60b_0_66"/>
          <p:cNvSpPr txBox="1"/>
          <p:nvPr/>
        </p:nvSpPr>
        <p:spPr>
          <a:xfrm>
            <a:off x="2019488" y="1260488"/>
            <a:ext cx="123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React Native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g3c1ef68f60b_0_66"/>
          <p:cNvSpPr txBox="1"/>
          <p:nvPr/>
        </p:nvSpPr>
        <p:spPr>
          <a:xfrm>
            <a:off x="1685075" y="35421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O React Native utiliza como linguagem base o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JavaScript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 partir desse código JavaScript, é possível controlar componentes nativos, isso acontece por conta da Bridge (ponte) que traduz o conteúdo e permitindo a renderização dos componentes nativos.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Vamos entender esse processo em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3 camadas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g3c1ef68f60b_0_6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c1ef68f60b_0_66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c1ef68f60b_0_7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c1ef68f60b_0_7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g3c1ef68f60b_0_7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0" name="Google Shape;440;g3c1ef68f60b_0_7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41" name="Google Shape;441;g3c1ef68f60b_0_7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g3c1ef68f60b_0_7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g3c1ef68f60b_0_79"/>
          <p:cNvSpPr txBox="1"/>
          <p:nvPr/>
        </p:nvSpPr>
        <p:spPr>
          <a:xfrm>
            <a:off x="2019488" y="1260488"/>
            <a:ext cx="123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Camadas React Native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" name="Google Shape;444;g3c1ef68f60b_0_79"/>
          <p:cNvSpPr txBox="1"/>
          <p:nvPr/>
        </p:nvSpPr>
        <p:spPr>
          <a:xfrm>
            <a:off x="1685075" y="35421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AutoNum type="arabicPeriod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JavaScript Thread: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Executa o código React, processa toda lógica;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AutoNum type="arabicPeriod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Bridge (Ponte):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Meio de comunicação entre o JavaScript e o Nativo, converte as mensagens em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JSON;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AutoNum type="arabicPeriod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Native Thread: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Interpreta as mensagens da Bridge e renderiza componentes e ações nativas do sistema operacional específico.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" name="Google Shape;445;g3c1ef68f60b_0_7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c1ef68f60b_0_79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1ef68f60b_0_93"/>
          <p:cNvSpPr/>
          <p:nvPr/>
        </p:nvSpPr>
        <p:spPr>
          <a:xfrm>
            <a:off x="0" y="-9645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c1ef68f60b_0_9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g3c1ef68f60b_0_9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g3c1ef68f60b_0_93"/>
          <p:cNvSpPr txBox="1"/>
          <p:nvPr/>
        </p:nvSpPr>
        <p:spPr>
          <a:xfrm>
            <a:off x="2019488" y="1260488"/>
            <a:ext cx="123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Camadas React Native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5" name="Google Shape;455;g3c1ef68f60b_0_9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c1ef68f60b_0_93"/>
          <p:cNvSpPr txBox="1"/>
          <p:nvPr/>
        </p:nvSpPr>
        <p:spPr>
          <a:xfrm>
            <a:off x="2043303" y="962025"/>
            <a:ext cx="4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g3c1ef68f60b_0_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8800" y="2525788"/>
            <a:ext cx="7324100" cy="32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c1ef68f60b_0_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72975" y="5896425"/>
            <a:ext cx="7324100" cy="415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c1ef68f60b_0_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89500" y="2525806"/>
            <a:ext cx="7830993" cy="325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1ef68f60b_0_27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c1ef68f60b_0_27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g3c1ef68f60b_0_27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7" name="Google Shape;467;g3c1ef68f60b_0_27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68" name="Google Shape;468;g3c1ef68f60b_0_27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g3c1ef68f60b_0_27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g3c1ef68f60b_0_275"/>
          <p:cNvSpPr txBox="1"/>
          <p:nvPr/>
        </p:nvSpPr>
        <p:spPr>
          <a:xfrm>
            <a:off x="2019488" y="1260488"/>
            <a:ext cx="123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sz="5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1" name="Google Shape;471;g3c1ef68f60b_0_275"/>
          <p:cNvSpPr txBox="1"/>
          <p:nvPr/>
        </p:nvSpPr>
        <p:spPr>
          <a:xfrm>
            <a:off x="1604700" y="3156378"/>
            <a:ext cx="14443800" cy="6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Evolução dos Dispositivos Móveis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Jornada desde o primeiro celular (1983) até a era da Inteligência Artificial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Transformação dos dispositivos em plataformas integradas e inteligentes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Desafios do Desenvolvimento Mobile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Restrições de hardware (processamento, memória, bateria)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Necessidade de otimização e eficiência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Desenvolvimento Nativo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Foco em alta performance para sistemas específicos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Plataformas: iOS (Swift/Objective-C) e Android (Kotlin/Java)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Ferramentas oficiais: Xcode e Android Studio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Desenvolvimento Híbrido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Frameworks multiplataforma: React Native e Flutter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Vantagem: um único código para múltiplas plataformas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Equilíbrio entre produtividade e performance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2" name="Google Shape;472;g3c1ef68f60b_0_27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c1ef68f60b_0_275"/>
          <p:cNvSpPr txBox="1"/>
          <p:nvPr/>
        </p:nvSpPr>
        <p:spPr>
          <a:xfrm>
            <a:off x="2043303" y="962025"/>
            <a:ext cx="443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1ef68f60b_0_1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c1ef68f60b_0_1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g3c1ef68f60b_0_17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1" name="Google Shape;481;g3c1ef68f60b_0_17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82" name="Google Shape;482;g3c1ef68f60b_0_1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g3c1ef68f60b_0_1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g3c1ef68f60b_0_174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5" name="Google Shape;485;g3c1ef68f60b_0_174"/>
          <p:cNvSpPr txBox="1"/>
          <p:nvPr/>
        </p:nvSpPr>
        <p:spPr>
          <a:xfrm>
            <a:off x="1685075" y="3542151"/>
            <a:ext cx="14443800" cy="10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React Native Docs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Architecture Overview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Disponível em: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SENAI-SP EDITORA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Programação para dispositivos móveis / Daniel Filipe Vieira. – 1. ed. – São Paulo :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Capítulo 1: Introdução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6" name="Google Shape;486;g3c1ef68f60b_0_1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c1ef68f60b_0_17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5" name="Google Shape;495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496" name="Google Shape;496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97" name="Google Shape;497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8" name="Google Shape;498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499" name="Google Shape;499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502" name="Google Shape;502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4" name="Google Shape;504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505" name="Google Shape;505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07" name="Google Shape;507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8" name="Google Shape;508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509" name="Google Shape;50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0" name="Google Shape;510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